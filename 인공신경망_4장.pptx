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media/image10.jpg" ContentType="image/jpe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7" r:id="rId2"/>
    <p:sldId id="260" r:id="rId3"/>
    <p:sldId id="287" r:id="rId4"/>
    <p:sldId id="289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259" r:id="rId2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>
      <p:cViewPr varScale="1">
        <p:scale>
          <a:sx n="81" d="100"/>
          <a:sy n="81" d="100"/>
        </p:scale>
        <p:origin x="1459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771C21-3757-4199-83DE-22960358A2A5}" type="datetimeFigureOut">
              <a:rPr lang="ko-KR" altLang="en-US" smtClean="0"/>
              <a:pPr/>
              <a:t>2020-05-09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A4E647-5A0F-41E6-A0EF-B58D8C1C6C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10778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56829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9886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5966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84055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230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5265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13211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79585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55187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3992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7605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76340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94883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98534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73080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2020-05-09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2020-05-09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2020-05-09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2020-05-09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2020-05-09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2020-05-09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2020-05-09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2020-05-09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2020-05-09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2020-05-09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2020-05-09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FE722-38C7-4231-8BB5-7A27D4E5977D}" type="datetimeFigureOut">
              <a:rPr lang="ko-KR" altLang="en-US" smtClean="0"/>
              <a:pPr/>
              <a:t>2020-05-09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3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5.png"/><Relationship Id="rId10" Type="http://schemas.openxmlformats.org/officeDocument/2006/relationships/image" Target="../media/image33.png"/><Relationship Id="rId4" Type="http://schemas.openxmlformats.org/officeDocument/2006/relationships/image" Target="../media/image24.png"/><Relationship Id="rId9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35696" y="2708920"/>
            <a:ext cx="54726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spc="-150" dirty="0">
                <a:solidFill>
                  <a:schemeClr val="bg1"/>
                </a:solidFill>
              </a:rPr>
              <a:t> 인공신경망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3848" y="4170566"/>
            <a:ext cx="27363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1"/>
                </a:solidFill>
              </a:rPr>
              <a:t>이유재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83768" y="2276872"/>
            <a:ext cx="425647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2">
                    <a:lumMod val="50000"/>
                  </a:schemeClr>
                </a:solidFill>
              </a:rPr>
              <a:t>4</a:t>
            </a: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</a:rPr>
              <a:t>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>
          <a:xfrm>
            <a:off x="1291086" y="3284984"/>
            <a:ext cx="1368152" cy="194421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sp>
        <p:nvSpPr>
          <p:cNvPr id="7" name="TextBox 6"/>
          <p:cNvSpPr txBox="1"/>
          <p:nvPr/>
        </p:nvSpPr>
        <p:spPr>
          <a:xfrm>
            <a:off x="323528" y="548680"/>
            <a:ext cx="4176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</a:rPr>
              <a:t>CONTENTS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80453" y="1772816"/>
            <a:ext cx="84969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01    02    03    04</a:t>
            </a:r>
            <a:endParaRPr lang="ko-KR" altLang="en-US" sz="5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1424469" y="2708920"/>
            <a:ext cx="11521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3091286" y="2708920"/>
            <a:ext cx="11521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4819478" y="2708920"/>
            <a:ext cx="11521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6547670" y="2708920"/>
            <a:ext cx="11521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288663" y="2843644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spc="-150" dirty="0">
                <a:solidFill>
                  <a:schemeClr val="bg1"/>
                </a:solidFill>
                <a:latin typeface="+mj-ea"/>
                <a:ea typeface="+mj-ea"/>
              </a:rPr>
              <a:t>인공신경망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1086" y="3429000"/>
            <a:ext cx="1368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spc="-150" dirty="0"/>
              <a:t>-  </a:t>
            </a:r>
            <a:r>
              <a:rPr lang="ko-KR" altLang="en-US" sz="1200" b="1" spc="-150" dirty="0"/>
              <a:t>뉴런</a:t>
            </a:r>
          </a:p>
          <a:p>
            <a:endParaRPr lang="en-US" altLang="ko-KR" sz="1200" b="1" spc="-150" dirty="0"/>
          </a:p>
          <a:p>
            <a:r>
              <a:rPr lang="en-US" altLang="ko-KR" sz="1200" b="1" spc="-150" dirty="0"/>
              <a:t>- </a:t>
            </a:r>
            <a:r>
              <a:rPr lang="ko-KR" altLang="en-US" sz="1200" b="1" spc="-150" dirty="0" err="1"/>
              <a:t>퍼셉트론</a:t>
            </a:r>
            <a:endParaRPr lang="en-US" altLang="ko-KR" sz="1200" b="1" spc="-150" dirty="0"/>
          </a:p>
        </p:txBody>
      </p:sp>
      <p:sp>
        <p:nvSpPr>
          <p:cNvPr id="19" name="직사각형 18"/>
          <p:cNvSpPr/>
          <p:nvPr/>
        </p:nvSpPr>
        <p:spPr>
          <a:xfrm>
            <a:off x="3019278" y="3284984"/>
            <a:ext cx="1368152" cy="194421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sp>
        <p:nvSpPr>
          <p:cNvPr id="20" name="직사각형 19"/>
          <p:cNvSpPr/>
          <p:nvPr/>
        </p:nvSpPr>
        <p:spPr>
          <a:xfrm>
            <a:off x="4747470" y="3284984"/>
            <a:ext cx="1368152" cy="194421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sp>
        <p:nvSpPr>
          <p:cNvPr id="21" name="직사각형 20"/>
          <p:cNvSpPr/>
          <p:nvPr/>
        </p:nvSpPr>
        <p:spPr>
          <a:xfrm>
            <a:off x="6475662" y="3284984"/>
            <a:ext cx="1368152" cy="194421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sp>
        <p:nvSpPr>
          <p:cNvPr id="23" name="TextBox 22"/>
          <p:cNvSpPr txBox="1"/>
          <p:nvPr/>
        </p:nvSpPr>
        <p:spPr>
          <a:xfrm>
            <a:off x="3019278" y="3429000"/>
            <a:ext cx="1368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spc="-150" dirty="0"/>
              <a:t>- </a:t>
            </a:r>
            <a:r>
              <a:rPr lang="ko-KR" altLang="en-US" sz="1200" b="1" spc="-150" dirty="0"/>
              <a:t>종류</a:t>
            </a:r>
            <a:endParaRPr lang="en-US" altLang="ko-KR" sz="1200" b="1" spc="-150" dirty="0"/>
          </a:p>
          <a:p>
            <a:endParaRPr lang="ko-KR" altLang="en-US" sz="1200" b="1" spc="-150" dirty="0"/>
          </a:p>
        </p:txBody>
      </p:sp>
      <p:sp>
        <p:nvSpPr>
          <p:cNvPr id="24" name="TextBox 23"/>
          <p:cNvSpPr txBox="1"/>
          <p:nvPr/>
        </p:nvSpPr>
        <p:spPr>
          <a:xfrm>
            <a:off x="4747470" y="3429000"/>
            <a:ext cx="1368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spc="-150" dirty="0"/>
              <a:t>- </a:t>
            </a:r>
            <a:r>
              <a:rPr lang="ko-KR" altLang="en-US" sz="1200" b="1" spc="-150" dirty="0"/>
              <a:t>전파</a:t>
            </a:r>
          </a:p>
          <a:p>
            <a:endParaRPr lang="en-US" altLang="ko-KR" sz="1200" b="1" spc="-150" dirty="0"/>
          </a:p>
          <a:p>
            <a:r>
              <a:rPr lang="en-US" altLang="ko-KR" sz="1200" b="1" spc="-150" dirty="0"/>
              <a:t>-</a:t>
            </a:r>
            <a:r>
              <a:rPr lang="ko-KR" altLang="en-US" sz="1200" b="1" spc="-150" dirty="0"/>
              <a:t> </a:t>
            </a:r>
            <a:r>
              <a:rPr lang="ko-KR" altLang="en-US" sz="1200" b="1" spc="-150" dirty="0" err="1"/>
              <a:t>역전파</a:t>
            </a:r>
            <a:endParaRPr lang="en-US" altLang="ko-KR" sz="1200" b="1" spc="-150" dirty="0"/>
          </a:p>
        </p:txBody>
      </p:sp>
      <p:sp>
        <p:nvSpPr>
          <p:cNvPr id="25" name="TextBox 24"/>
          <p:cNvSpPr txBox="1"/>
          <p:nvPr/>
        </p:nvSpPr>
        <p:spPr>
          <a:xfrm>
            <a:off x="6475662" y="3429000"/>
            <a:ext cx="1368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spc="-150" dirty="0"/>
              <a:t>- </a:t>
            </a:r>
            <a:r>
              <a:rPr lang="ko-KR" altLang="en-US" sz="1200" b="1" spc="-150" dirty="0"/>
              <a:t>구현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47270" y="2843644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spc="-150" dirty="0">
                <a:solidFill>
                  <a:schemeClr val="bg1"/>
                </a:solidFill>
                <a:latin typeface="+mj-ea"/>
              </a:rPr>
              <a:t>활성화 함수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03454" y="2843644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spc="-150" dirty="0">
                <a:solidFill>
                  <a:schemeClr val="bg1"/>
                </a:solidFill>
                <a:latin typeface="+mj-ea"/>
              </a:rPr>
              <a:t>전파와 </a:t>
            </a:r>
            <a:r>
              <a:rPr lang="ko-KR" altLang="en-US" b="1" spc="-150" dirty="0" err="1">
                <a:solidFill>
                  <a:schemeClr val="bg1"/>
                </a:solidFill>
                <a:latin typeface="+mj-ea"/>
              </a:rPr>
              <a:t>역전파</a:t>
            </a:r>
            <a:endParaRPr lang="ko-KR" altLang="en-US" b="1" spc="-150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187630" y="2852936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spc="-150" dirty="0">
                <a:solidFill>
                  <a:schemeClr val="bg1"/>
                </a:solidFill>
                <a:latin typeface="+mj-ea"/>
              </a:rPr>
              <a:t>모델 구현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51520" y="620688"/>
            <a:ext cx="8640960" cy="5976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41052" y="271681"/>
            <a:ext cx="45397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뉴런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인공신경망</a:t>
            </a:r>
          </a:p>
        </p:txBody>
      </p:sp>
      <p:pic>
        <p:nvPicPr>
          <p:cNvPr id="11" name="그림 10" descr="지도, 시계이(가) 표시된 사진&#10;&#10;자동 생성된 설명">
            <a:extLst>
              <a:ext uri="{FF2B5EF4-FFF2-40B4-BE49-F238E27FC236}">
                <a16:creationId xmlns:a16="http://schemas.microsoft.com/office/drawing/2014/main" id="{09135D17-F953-42B1-B959-F8EAEFC6FB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807" y="3429000"/>
            <a:ext cx="5744377" cy="247684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1679D82-B082-441C-B949-00D331F945C4}"/>
              </a:ext>
            </a:extLst>
          </p:cNvPr>
          <p:cNvSpPr txBox="1"/>
          <p:nvPr/>
        </p:nvSpPr>
        <p:spPr>
          <a:xfrm>
            <a:off x="1223627" y="1619437"/>
            <a:ext cx="66967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생물학적 인공신경망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가지돌기에서 신호를 받아들이고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신호가 일정치 이상이면 </a:t>
            </a:r>
            <a:r>
              <a:rPr lang="ko-K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축삭돌기를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통해서 신호를 전달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51520" y="620688"/>
            <a:ext cx="8640960" cy="5976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506402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퍼셉트론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인공신경망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9135D17-F953-42B1-B959-F8EAEFC6FB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57800" y="3547443"/>
            <a:ext cx="2828397" cy="24768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1679D82-B082-441C-B949-00D331F945C4}"/>
                  </a:ext>
                </a:extLst>
              </p:cNvPr>
              <p:cNvSpPr txBox="1"/>
              <p:nvPr/>
            </p:nvSpPr>
            <p:spPr>
              <a:xfrm>
                <a:off x="1223626" y="1618487"/>
                <a:ext cx="6696746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ko-KR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퍼셉트론 </a:t>
                </a:r>
                <a:r>
                  <a:rPr lang="en-US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= </a:t>
                </a:r>
                <a:r>
                  <a:rPr lang="ko-KR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초기의 인공신경망</a:t>
                </a:r>
                <a:endParaRPr lang="en-US" altLang="ko-K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AutoNum type="arabicPeriod"/>
                </a:pPr>
                <a:endParaRPr lang="en-US" altLang="ko-K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ko-KR" altLang="en-US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는</m:t>
                    </m:r>
                  </m:oMath>
                </a14:m>
                <a:r>
                  <a:rPr lang="ko-KR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ko-KR" alt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입력값</a:t>
                </a:r>
                <a:r>
                  <a:rPr lang="en-US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𝑊</m:t>
                    </m:r>
                    <m:r>
                      <a:rPr lang="ko-KR" altLang="en-US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는</m:t>
                    </m:r>
                  </m:oMath>
                </a14:m>
                <a:r>
                  <a:rPr lang="ko-KR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가중치</a:t>
                </a:r>
                <a:r>
                  <a:rPr lang="en-US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ko-KR" altLang="en-US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는</m:t>
                    </m:r>
                  </m:oMath>
                </a14:m>
                <a:r>
                  <a:rPr lang="ko-KR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출력값</a:t>
                </a:r>
                <a:endParaRPr lang="en-US" altLang="ko-K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AutoNum type="arabicPeriod"/>
                </a:pPr>
                <a:endParaRPr lang="en-US" altLang="ko-K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AutoNum type="arabicPeriod"/>
                </a:pPr>
                <a:r>
                  <a:rPr lang="ko-KR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가중치가 크다             해당 </a:t>
                </a:r>
                <a:r>
                  <a:rPr lang="ko-KR" alt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입력값이</a:t>
                </a:r>
                <a:r>
                  <a:rPr lang="ko-KR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중요하다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1679D82-B082-441C-B949-00D331F94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626" y="1618487"/>
                <a:ext cx="6696746" cy="1477328"/>
              </a:xfrm>
              <a:prstGeom prst="rect">
                <a:avLst/>
              </a:prstGeom>
              <a:blipFill>
                <a:blip r:embed="rId4"/>
                <a:stretch>
                  <a:fillRect l="-729" t="-2058" b="-53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A31771B0-3371-4151-9CAD-E4555C478EEB}"/>
              </a:ext>
            </a:extLst>
          </p:cNvPr>
          <p:cNvSpPr/>
          <p:nvPr/>
        </p:nvSpPr>
        <p:spPr>
          <a:xfrm>
            <a:off x="3275856" y="2780928"/>
            <a:ext cx="504056" cy="2185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4013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51520" y="620688"/>
            <a:ext cx="8640960" cy="5976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506402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퍼셉트론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인공신경망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1679D82-B082-441C-B949-00D331F945C4}"/>
                  </a:ext>
                </a:extLst>
              </p:cNvPr>
              <p:cNvSpPr txBox="1"/>
              <p:nvPr/>
            </p:nvSpPr>
            <p:spPr>
              <a:xfrm>
                <a:off x="1223626" y="1618487"/>
                <a:ext cx="6696746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ko-KR" alt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단층퍼셉트론</a:t>
                </a:r>
                <a:r>
                  <a:rPr lang="ko-KR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  </a:t>
                </a:r>
                <a:r>
                  <a:rPr lang="ko-KR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입력층과 출력층만 존재</a:t>
                </a:r>
                <a:endParaRPr lang="en-US" altLang="ko-K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AutoNum type="arabicPeriod"/>
                </a:pPr>
                <a:endParaRPr lang="en-US" altLang="ko-K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r>
                      <a:rPr lang="ko-KR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다</m:t>
                    </m:r>
                  </m:oMath>
                </a14:m>
                <a:r>
                  <a:rPr lang="ko-KR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층퍼셉트론               </a:t>
                </a:r>
                <a:r>
                  <a:rPr lang="ko-KR" alt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입력층</a:t>
                </a:r>
                <a:r>
                  <a:rPr lang="en-US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ko-KR" alt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은닉층</a:t>
                </a:r>
                <a:r>
                  <a:rPr lang="en-US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ko-KR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출력층이 존재</a:t>
                </a:r>
                <a:endParaRPr lang="en-US" altLang="ko-K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AutoNum type="arabicPeriod"/>
                </a:pPr>
                <a:endParaRPr lang="en-US" altLang="ko-K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AutoNum type="arabicPeriod"/>
                </a:pPr>
                <a:r>
                  <a:rPr lang="ko-KR" alt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심층퍼셉트론</a:t>
                </a:r>
                <a:r>
                  <a:rPr lang="ko-KR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     은닉층이 </a:t>
                </a:r>
                <a:r>
                  <a:rPr lang="en-US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ko-KR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개 이상</a:t>
                </a:r>
                <a:endParaRPr lang="en-US" altLang="ko-K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1679D82-B082-441C-B949-00D331F94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626" y="1618487"/>
                <a:ext cx="6696746" cy="1477328"/>
              </a:xfrm>
              <a:prstGeom prst="rect">
                <a:avLst/>
              </a:prstGeom>
              <a:blipFill>
                <a:blip r:embed="rId3"/>
                <a:stretch>
                  <a:fillRect l="-729" t="-2058" b="-57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A31771B0-3371-4151-9CAD-E4555C478EEB}"/>
              </a:ext>
            </a:extLst>
          </p:cNvPr>
          <p:cNvSpPr/>
          <p:nvPr/>
        </p:nvSpPr>
        <p:spPr>
          <a:xfrm>
            <a:off x="3275856" y="2780928"/>
            <a:ext cx="504056" cy="2185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 descr="시계이(가) 표시된 사진&#10;&#10;자동 생성된 설명">
            <a:extLst>
              <a:ext uri="{FF2B5EF4-FFF2-40B4-BE49-F238E27FC236}">
                <a16:creationId xmlns:a16="http://schemas.microsoft.com/office/drawing/2014/main" id="{27A53A4D-5727-4B28-ACC7-827DE8DD1E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84" y="3429945"/>
            <a:ext cx="2581635" cy="2629267"/>
          </a:xfrm>
          <a:prstGeom prst="rect">
            <a:avLst/>
          </a:prstGeom>
        </p:spPr>
      </p:pic>
      <p:pic>
        <p:nvPicPr>
          <p:cNvPr id="14" name="그림 13" descr="텍스트, 지도이(가) 표시된 사진&#10;&#10;자동 생성된 설명">
            <a:extLst>
              <a:ext uri="{FF2B5EF4-FFF2-40B4-BE49-F238E27FC236}">
                <a16:creationId xmlns:a16="http://schemas.microsoft.com/office/drawing/2014/main" id="{08CDA8F3-4214-43CB-AEBC-1473910582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9651" y="3457774"/>
            <a:ext cx="2638793" cy="222916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BA1D29BA-E07C-475B-A2BA-6CB2998B5A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8444" y="3556021"/>
            <a:ext cx="2991740" cy="2032665"/>
          </a:xfrm>
          <a:prstGeom prst="rect">
            <a:avLst/>
          </a:prstGeom>
        </p:spPr>
      </p:pic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8F667B3F-C9BA-4FC6-B82E-77510AAF41E7}"/>
              </a:ext>
            </a:extLst>
          </p:cNvPr>
          <p:cNvSpPr/>
          <p:nvPr/>
        </p:nvSpPr>
        <p:spPr>
          <a:xfrm>
            <a:off x="3275856" y="1666302"/>
            <a:ext cx="504056" cy="2185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B42259FB-28EA-4E78-9EB9-4D6724BFAA5F}"/>
              </a:ext>
            </a:extLst>
          </p:cNvPr>
          <p:cNvSpPr/>
          <p:nvPr/>
        </p:nvSpPr>
        <p:spPr>
          <a:xfrm>
            <a:off x="3275856" y="2245279"/>
            <a:ext cx="504056" cy="2185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8038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51520" y="620688"/>
            <a:ext cx="8640960" cy="5976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506402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퍼셉트론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인공신경망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679D82-B082-441C-B949-00D331F945C4}"/>
              </a:ext>
            </a:extLst>
          </p:cNvPr>
          <p:cNvSpPr txBox="1"/>
          <p:nvPr/>
        </p:nvSpPr>
        <p:spPr>
          <a:xfrm>
            <a:off x="1223626" y="1618487"/>
            <a:ext cx="66967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입력값에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가중치가 곱해져 </a:t>
            </a:r>
            <a:r>
              <a:rPr lang="ko-K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인공뉴런으로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전달됨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ko-K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인공뉴련으로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전달된 각 </a:t>
            </a:r>
            <a:r>
              <a:rPr lang="ko-K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입력값과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이에 맞는 가중치의 곱의 전체합이 임계치 이상이면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을 출력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그렇지 않으면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을 출력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이때 활용되는 것이 활성화 함수</a:t>
            </a:r>
          </a:p>
        </p:txBody>
      </p:sp>
      <p:pic>
        <p:nvPicPr>
          <p:cNvPr id="5" name="그림 4" descr="스크린샷이(가) 표시된 사진&#10;&#10;자동 생성된 설명">
            <a:extLst>
              <a:ext uri="{FF2B5EF4-FFF2-40B4-BE49-F238E27FC236}">
                <a16:creationId xmlns:a16="http://schemas.microsoft.com/office/drawing/2014/main" id="{596B037B-38B9-43F9-AA88-7400735E28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087" y="3609020"/>
            <a:ext cx="3953427" cy="262926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CAF301F-31D8-4F69-9789-38469B98A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088" y="4218803"/>
            <a:ext cx="2790825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56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51520" y="620688"/>
            <a:ext cx="8640960" cy="5976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421443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활성화 함수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02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인공신경망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679D82-B082-441C-B949-00D331F945C4}"/>
              </a:ext>
            </a:extLst>
          </p:cNvPr>
          <p:cNvSpPr txBox="1"/>
          <p:nvPr/>
        </p:nvSpPr>
        <p:spPr>
          <a:xfrm>
            <a:off x="1223626" y="1618487"/>
            <a:ext cx="68047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입력 신호의 총합을 출력 신호로 변환하는 함수가 활성화 함수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ko-K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시그모이드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(Sigmoid), </a:t>
            </a:r>
            <a:r>
              <a:rPr lang="ko-K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하이퍼볼릭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탄젠트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(Hyperbolic tangent),</a:t>
            </a:r>
            <a:r>
              <a:rPr lang="ko-K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렐루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ReLU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가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자주 쓰임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ko-KR" altLang="en-US" dirty="0"/>
              <a:t>은닉층을 </a:t>
            </a:r>
            <a:r>
              <a:rPr lang="ko-KR" altLang="en-US" dirty="0" err="1"/>
              <a:t>중첩시키기</a:t>
            </a:r>
            <a:r>
              <a:rPr lang="ko-KR" altLang="en-US" dirty="0"/>
              <a:t> 위해 비선형함수를 사용</a:t>
            </a:r>
            <a:r>
              <a:rPr lang="en-US" altLang="ko-KR" dirty="0"/>
              <a:t>(</a:t>
            </a:r>
            <a:r>
              <a:rPr lang="ko-KR" altLang="en-US" dirty="0"/>
              <a:t>선형함수는 중첩이 안됨</a:t>
            </a:r>
            <a:r>
              <a:rPr lang="en-US" altLang="ko-KR" dirty="0"/>
              <a:t>)</a:t>
            </a:r>
            <a:br>
              <a:rPr lang="ko-KR" altLang="en-US" dirty="0"/>
            </a:b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5BD9ECCF-EE00-4F14-AF17-4F61EB4A07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9492" y="3705096"/>
            <a:ext cx="5153025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949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51520" y="620688"/>
            <a:ext cx="8640960" cy="5976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421443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활성화 함수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02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인공신경망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679D82-B082-441C-B949-00D331F945C4}"/>
              </a:ext>
            </a:extLst>
          </p:cNvPr>
          <p:cNvSpPr txBox="1"/>
          <p:nvPr/>
        </p:nvSpPr>
        <p:spPr>
          <a:xfrm>
            <a:off x="1223626" y="1618487"/>
            <a:ext cx="68047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ko-KR" altLang="en-US" dirty="0"/>
            </a:b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그림 10" descr="지도이(가) 표시된 사진&#10;&#10;자동 생성된 설명">
            <a:extLst>
              <a:ext uri="{FF2B5EF4-FFF2-40B4-BE49-F238E27FC236}">
                <a16:creationId xmlns:a16="http://schemas.microsoft.com/office/drawing/2014/main" id="{B0D5DB1F-071F-4F4E-844C-FBC4DFE0D7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726" y="2139328"/>
            <a:ext cx="3344274" cy="398667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419B24CB-131A-4654-A1A4-7FC3BB083A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80" y="1299649"/>
            <a:ext cx="1876425" cy="66675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9811ADB-7450-4D73-9F17-CA31859BAB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4207" y="1010204"/>
            <a:ext cx="2724150" cy="122872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55D5D0E-357E-4D65-9F2B-43FE4E0C43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5897" y="2203725"/>
            <a:ext cx="3799331" cy="385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766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51520" y="620688"/>
            <a:ext cx="8640960" cy="5976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421443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활성화 함수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02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인공신경망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679D82-B082-441C-B949-00D331F945C4}"/>
              </a:ext>
            </a:extLst>
          </p:cNvPr>
          <p:cNvSpPr txBox="1"/>
          <p:nvPr/>
        </p:nvSpPr>
        <p:spPr>
          <a:xfrm>
            <a:off x="1223626" y="1618487"/>
            <a:ext cx="68047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ko-KR" altLang="en-US" dirty="0"/>
            </a:b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그림 4" descr="스크린샷이(가) 표시된 사진&#10;&#10;자동 생성된 설명">
            <a:extLst>
              <a:ext uri="{FF2B5EF4-FFF2-40B4-BE49-F238E27FC236}">
                <a16:creationId xmlns:a16="http://schemas.microsoft.com/office/drawing/2014/main" id="{884E121A-4EAF-48F7-BA33-60B25CC6A2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760" y="1790122"/>
            <a:ext cx="3566470" cy="479339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E5A0DD6-DF27-4BBD-B3BA-5CA789237F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2515" y="1268897"/>
            <a:ext cx="2346960" cy="513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072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51520" y="620688"/>
            <a:ext cx="8640960" cy="5976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421443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활성화 함수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02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인공신경망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679D82-B082-441C-B949-00D331F945C4}"/>
              </a:ext>
            </a:extLst>
          </p:cNvPr>
          <p:cNvSpPr txBox="1"/>
          <p:nvPr/>
        </p:nvSpPr>
        <p:spPr>
          <a:xfrm>
            <a:off x="1223626" y="1618487"/>
            <a:ext cx="68047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ko-KR" altLang="en-US" dirty="0"/>
            </a:b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그림 4" descr="스크린샷이(가) 표시된 사진&#10;&#10;자동 생성된 설명">
            <a:extLst>
              <a:ext uri="{FF2B5EF4-FFF2-40B4-BE49-F238E27FC236}">
                <a16:creationId xmlns:a16="http://schemas.microsoft.com/office/drawing/2014/main" id="{884E121A-4EAF-48F7-BA33-60B25CC6A2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760" y="1790122"/>
            <a:ext cx="3566470" cy="479339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E5A0DD6-DF27-4BBD-B3BA-5CA789237F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2515" y="1268897"/>
            <a:ext cx="2346960" cy="513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200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51520" y="620688"/>
            <a:ext cx="8640960" cy="5976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41054" y="271681"/>
            <a:ext cx="45397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전파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03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인공신경망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679D82-B082-441C-B949-00D331F945C4}"/>
              </a:ext>
            </a:extLst>
          </p:cNvPr>
          <p:cNvSpPr txBox="1"/>
          <p:nvPr/>
        </p:nvSpPr>
        <p:spPr>
          <a:xfrm>
            <a:off x="1223626" y="1618487"/>
            <a:ext cx="68047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ko-KR" altLang="en-US" dirty="0"/>
            </a:b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B59AC1D-169B-4D44-9C88-5981FD1E553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153" y="1300604"/>
            <a:ext cx="4451693" cy="239421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352389-E2EC-4EE5-9F31-12E82DAB208A}"/>
                  </a:ext>
                </a:extLst>
              </p:cNvPr>
              <p:cNvSpPr txBox="1"/>
              <p:nvPr/>
            </p:nvSpPr>
            <p:spPr>
              <a:xfrm>
                <a:off x="737573" y="4122173"/>
                <a:ext cx="7776864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b="0" dirty="0"/>
                  <a:t>변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수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altLang="ko-KR" dirty="0"/>
                  <a:t>: </a:t>
                </a:r>
                <a:r>
                  <a:rPr lang="ko-KR" altLang="en-US" dirty="0"/>
                  <a:t>이전층의 모든 입력이 각각의 가중치와 곱해진 값들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을 모두 더한 </a:t>
                </a:r>
                <a:r>
                  <a:rPr lang="ko-KR" altLang="en-US" dirty="0" err="1"/>
                  <a:t>가중합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활성화 함수를 거치기 전 상태</a:t>
                </a:r>
                <a:r>
                  <a:rPr lang="en-US" altLang="ko-KR" dirty="0"/>
                  <a:t>)</a:t>
                </a:r>
              </a:p>
              <a:p>
                <a:pPr algn="ctr"/>
                <a:r>
                  <a:rPr lang="en-US" altLang="ko-KR" dirty="0"/>
                  <a:t> </a:t>
                </a:r>
              </a:p>
              <a:p>
                <a:r>
                  <a:rPr lang="ko-KR" altLang="en-US" dirty="0"/>
                  <a:t>  변수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ko-KR" altLang="en-US" dirty="0"/>
                  <a:t>변수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ko-KR" altLang="en-US" dirty="0"/>
                  <a:t>가 활성화 함수를 지난 후 반환 된 뉴런의 </a:t>
                </a:r>
                <a:r>
                  <a:rPr lang="ko-KR" altLang="en-US" dirty="0" err="1"/>
                  <a:t>출력값</a:t>
                </a:r>
                <a:endParaRPr lang="en-US" altLang="ko-KR" dirty="0"/>
              </a:p>
              <a:p>
                <a:endParaRPr lang="en-US" altLang="ko-KR" dirty="0"/>
              </a:p>
              <a:p>
                <a:pPr algn="ctr"/>
                <a:r>
                  <a:rPr lang="ko-KR" altLang="en-US" dirty="0"/>
                  <a:t>모든 활성화 함수는 </a:t>
                </a:r>
                <a:r>
                  <a:rPr lang="ko-KR" altLang="en-US" dirty="0" err="1"/>
                  <a:t>시그모이드라</a:t>
                </a:r>
                <a:r>
                  <a:rPr lang="ko-KR" altLang="en-US" dirty="0"/>
                  <a:t> 가정</a:t>
                </a:r>
                <a:endParaRPr lang="en-US" altLang="ko-KR" dirty="0"/>
              </a:p>
              <a:p>
                <a:endParaRPr lang="ko-KR" altLang="en-US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352389-E2EC-4EE5-9F31-12E82DAB2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573" y="4122173"/>
                <a:ext cx="7776864" cy="2031325"/>
              </a:xfrm>
              <a:prstGeom prst="rect">
                <a:avLst/>
              </a:prstGeom>
              <a:blipFill>
                <a:blip r:embed="rId4"/>
                <a:stretch>
                  <a:fillRect t="-150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3445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51520" y="620688"/>
            <a:ext cx="8640960" cy="5976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41054" y="271681"/>
            <a:ext cx="45397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전파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03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인공신경망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679D82-B082-441C-B949-00D331F945C4}"/>
              </a:ext>
            </a:extLst>
          </p:cNvPr>
          <p:cNvSpPr txBox="1"/>
          <p:nvPr/>
        </p:nvSpPr>
        <p:spPr>
          <a:xfrm>
            <a:off x="1223626" y="1618487"/>
            <a:ext cx="68047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ko-KR" altLang="en-US" dirty="0"/>
            </a:b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B59AC1D-169B-4D44-9C88-5981FD1E553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10149" y="1082212"/>
            <a:ext cx="4451693" cy="218276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352389-E2EC-4EE5-9F31-12E82DAB208A}"/>
                  </a:ext>
                </a:extLst>
              </p:cNvPr>
              <p:cNvSpPr txBox="1"/>
              <p:nvPr/>
            </p:nvSpPr>
            <p:spPr>
              <a:xfrm>
                <a:off x="654443" y="3336985"/>
                <a:ext cx="7776864" cy="424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=0.3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×0.1 +0.25×0.2=0.08</m:t>
                      </m:r>
                    </m:oMath>
                  </m:oMathPara>
                </a14:m>
                <a:endParaRPr lang="en-US" altLang="ko-KR" b="0" dirty="0"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×0.1 +0.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5×0.2=0.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en-US" altLang="ko-KR" dirty="0"/>
              </a:p>
              <a:p>
                <a:pPr algn="ctr"/>
                <a:endParaRPr lang="en-US" altLang="ko-KR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𝑠𝑖𝑔𝑚𝑜𝑖𝑑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=0.51998934</m:t>
                      </m:r>
                    </m:oMath>
                  </m:oMathPara>
                </a14:m>
                <a:endParaRPr lang="en-US" altLang="ko-KR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𝑠𝑖𝑔𝑚𝑜𝑖𝑑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52747230</m:t>
                      </m:r>
                    </m:oMath>
                  </m:oMathPara>
                </a14:m>
                <a:endParaRPr lang="en-US" altLang="ko-KR" dirty="0"/>
              </a:p>
              <a:p>
                <a:pPr algn="ctr"/>
                <a:endParaRPr lang="en-US" altLang="ko-KR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=0.4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+0.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44498412</m:t>
                      </m:r>
                    </m:oMath>
                  </m:oMathPara>
                </a14:m>
                <a:endParaRPr lang="en-US" altLang="ko-KR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+0.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68047592</m:t>
                      </m:r>
                    </m:oMath>
                  </m:oMathPara>
                </a14:m>
                <a:endParaRPr lang="en-US" altLang="ko-KR" dirty="0"/>
              </a:p>
              <a:p>
                <a:pPr algn="ctr"/>
                <a:endParaRPr lang="en-US" altLang="ko-KR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𝑠𝑖𝑔𝑚𝑜𝑖𝑑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.60944600</m:t>
                      </m:r>
                    </m:oMath>
                  </m:oMathPara>
                </a14:m>
                <a:endParaRPr lang="en-US" altLang="ko-KR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𝑠𝑖𝑔𝑚𝑜𝑖𝑑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66384491</m:t>
                      </m:r>
                    </m:oMath>
                  </m:oMathPara>
                </a14:m>
                <a:endParaRPr lang="en-US" altLang="ko-KR" dirty="0"/>
              </a:p>
              <a:p>
                <a:pPr algn="ctr"/>
                <a:endParaRPr lang="en-US" altLang="ko-KR" dirty="0"/>
              </a:p>
              <a:p>
                <a:pPr algn="ctr"/>
                <a:endParaRPr lang="en-US" altLang="ko-KR" dirty="0"/>
              </a:p>
              <a:p>
                <a:pPr algn="ctr"/>
                <a:endParaRPr lang="en-US" altLang="ko-KR" dirty="0"/>
              </a:p>
              <a:p>
                <a:endParaRPr lang="ko-KR" altLang="en-US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352389-E2EC-4EE5-9F31-12E82DAB2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443" y="3336985"/>
                <a:ext cx="7776864" cy="424731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1531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51520" y="620688"/>
            <a:ext cx="8640960" cy="5976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573727" y="271681"/>
            <a:ext cx="5886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역전파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03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인공신경망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679D82-B082-441C-B949-00D331F945C4}"/>
              </a:ext>
            </a:extLst>
          </p:cNvPr>
          <p:cNvSpPr txBox="1"/>
          <p:nvPr/>
        </p:nvSpPr>
        <p:spPr>
          <a:xfrm>
            <a:off x="1223626" y="1618487"/>
            <a:ext cx="68047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ko-KR" altLang="en-US" dirty="0"/>
            </a:br>
            <a:endParaRPr lang="en-US" altLang="ko-KR" dirty="0"/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352389-E2EC-4EE5-9F31-12E82DAB208A}"/>
                  </a:ext>
                </a:extLst>
              </p:cNvPr>
              <p:cNvSpPr txBox="1"/>
              <p:nvPr/>
            </p:nvSpPr>
            <p:spPr>
              <a:xfrm>
                <a:off x="683568" y="3522104"/>
                <a:ext cx="7776864" cy="2815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𝐿𝑜𝑠𝑠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𝑓𝑢𝑛𝑐𝑡𝑖𝑜𝑛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𝑀𝑆𝐸</m:t>
                      </m:r>
                    </m:oMath>
                  </m:oMathPara>
                </a14:m>
                <a:endParaRPr lang="en-US" altLang="ko-KR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endParaRPr lang="en-US" altLang="ko-KR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𝑡𝑎𝑟𝑔𝑒𝑡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en-US" altLang="ko-K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𝑜𝑢𝑡𝑝𝑢𝑡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en-US" altLang="ko-K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=0.02193381       (</m:t>
                      </m:r>
                      <m:r>
                        <a:rPr lang="ko-KR" altLang="en-US" b="0" i="1">
                          <a:latin typeface="Cambria Math" panose="02040503050406030204" pitchFamily="18" charset="0"/>
                        </a:rPr>
                        <m:t>실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제</m:t>
                      </m:r>
                      <m:r>
                        <a:rPr lang="ko-KR" altLang="en-US" b="0" i="1">
                          <a:latin typeface="Cambria Math" panose="02040503050406030204" pitchFamily="18" charset="0"/>
                        </a:rPr>
                        <m:t>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𝑡𝑎𝑟𝑔𝑒𝑡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altLang="ko-KR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𝑡𝑎𝑟𝑔𝑒𝑡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𝑜𝑢𝑡𝑝𝑢𝑡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00203809</m:t>
                      </m:r>
                    </m:oMath>
                  </m:oMathPara>
                </a14:m>
                <a:endParaRPr lang="en-US" altLang="ko-KR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endParaRPr lang="en-US" altLang="ko-KR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</m:oMath>
                </a14:m>
                <a:r>
                  <a:rPr lang="en-US" altLang="ko-KR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ko-KR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=0.02397190</m:t>
                    </m:r>
                  </m:oMath>
                </a14:m>
                <a:endParaRPr lang="en-US" altLang="ko-KR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endParaRPr lang="en-US" altLang="ko-KR" b="1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 b="1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352389-E2EC-4EE5-9F31-12E82DAB2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3522104"/>
                <a:ext cx="7776864" cy="28153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137CD9B7-9401-43B2-B3EC-F1AB40581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1283" y="1434229"/>
            <a:ext cx="3169444" cy="1901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03888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직사각형 1"/>
              <p:cNvSpPr/>
              <p:nvPr/>
            </p:nvSpPr>
            <p:spPr>
              <a:xfrm>
                <a:off x="251520" y="631997"/>
                <a:ext cx="8640960" cy="597666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>
                          <a:latin typeface="Cambria Math" panose="02040503050406030204" pitchFamily="18" charset="0"/>
                        </a:rPr>
                        <m:t>ㅇ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2" name="직사각형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631997"/>
                <a:ext cx="8640960" cy="5976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573727" y="271681"/>
            <a:ext cx="5886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역전파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03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인공신경망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679D82-B082-441C-B949-00D331F945C4}"/>
              </a:ext>
            </a:extLst>
          </p:cNvPr>
          <p:cNvSpPr txBox="1"/>
          <p:nvPr/>
        </p:nvSpPr>
        <p:spPr>
          <a:xfrm>
            <a:off x="1210738" y="1332481"/>
            <a:ext cx="68047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ko-KR" altLang="en-US"/>
            </a:br>
            <a:endParaRPr lang="en-US" altLang="ko-KR"/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352389-E2EC-4EE5-9F31-12E82DAB208A}"/>
                  </a:ext>
                </a:extLst>
              </p:cNvPr>
              <p:cNvSpPr txBox="1"/>
              <p:nvPr/>
            </p:nvSpPr>
            <p:spPr>
              <a:xfrm>
                <a:off x="724685" y="3863307"/>
                <a:ext cx="777686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altLang="ko-KR" b="1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 b="1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352389-E2EC-4EE5-9F31-12E82DAB2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685" y="3863307"/>
                <a:ext cx="7776864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0B003F86-97BA-44C9-82A1-D5ABCD8AFF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7721" y="1115577"/>
            <a:ext cx="2876550" cy="65722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DEA91D7-B826-46A5-91C3-7012940462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2624" y="2265222"/>
            <a:ext cx="5238750" cy="5524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4835409-B7F4-42D6-8C47-8E18A39984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9521" y="2932320"/>
            <a:ext cx="4552950" cy="5715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558A53B-05A5-467F-811A-2202556D05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3696" y="3571860"/>
            <a:ext cx="6324600" cy="5429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3086063-1C83-4493-9EC4-241FB405938D}"/>
                  </a:ext>
                </a:extLst>
              </p:cNvPr>
              <p:cNvSpPr txBox="1"/>
              <p:nvPr/>
            </p:nvSpPr>
            <p:spPr>
              <a:xfrm>
                <a:off x="2015716" y="4212407"/>
                <a:ext cx="5040560" cy="3745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(1 </m:t>
                    </m:r>
                  </m:oMath>
                </a14:m>
                <a:r>
                  <a:rPr lang="ko-KR" altLang="en-US" dirty="0"/>
                  <a:t>-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    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ko-KR" altLang="en-US" i="1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ko-KR" altLang="en-US" dirty="0"/>
                  <a:t> 시그모이드</a:t>
                </a:r>
                <a:r>
                  <a:rPr lang="en-US" altLang="ko-KR" dirty="0"/>
                  <a:t>)</a:t>
                </a:r>
                <a:endParaRPr lang="ko-KR" alt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3086063-1C83-4493-9EC4-241FB4059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5716" y="4212407"/>
                <a:ext cx="5040560" cy="374526"/>
              </a:xfrm>
              <a:prstGeom prst="rect">
                <a:avLst/>
              </a:prstGeom>
              <a:blipFill>
                <a:blip r:embed="rId9"/>
                <a:stretch>
                  <a:fillRect l="-363"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그림 14">
            <a:extLst>
              <a:ext uri="{FF2B5EF4-FFF2-40B4-BE49-F238E27FC236}">
                <a16:creationId xmlns:a16="http://schemas.microsoft.com/office/drawing/2014/main" id="{8E2B596E-6262-4628-989E-5AF2CFF1C26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62112" y="4664228"/>
            <a:ext cx="5819775" cy="55245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4EAE8D5-7917-402A-A1F3-DD1B51C20F2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73946" y="5282924"/>
            <a:ext cx="2324100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884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직사각형 1"/>
              <p:cNvSpPr/>
              <p:nvPr/>
            </p:nvSpPr>
            <p:spPr>
              <a:xfrm>
                <a:off x="251520" y="631997"/>
                <a:ext cx="8640960" cy="597666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>
                          <a:latin typeface="Cambria Math" panose="02040503050406030204" pitchFamily="18" charset="0"/>
                        </a:rPr>
                        <m:t>ㅇ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2" name="직사각형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631997"/>
                <a:ext cx="8640960" cy="5976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573727" y="271681"/>
            <a:ext cx="5886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역전파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03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인공신경망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679D82-B082-441C-B949-00D331F945C4}"/>
              </a:ext>
            </a:extLst>
          </p:cNvPr>
          <p:cNvSpPr txBox="1"/>
          <p:nvPr/>
        </p:nvSpPr>
        <p:spPr>
          <a:xfrm>
            <a:off x="1210738" y="1332481"/>
            <a:ext cx="68047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ko-KR" altLang="en-US"/>
            </a:br>
            <a:endParaRPr lang="en-US" altLang="ko-KR"/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352389-E2EC-4EE5-9F31-12E82DAB208A}"/>
                  </a:ext>
                </a:extLst>
              </p:cNvPr>
              <p:cNvSpPr txBox="1"/>
              <p:nvPr/>
            </p:nvSpPr>
            <p:spPr>
              <a:xfrm>
                <a:off x="724685" y="3863307"/>
                <a:ext cx="777686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altLang="ko-KR" b="1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 b="1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352389-E2EC-4EE5-9F31-12E82DAB2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685" y="3863307"/>
                <a:ext cx="7776864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그림 16">
            <a:extLst>
              <a:ext uri="{FF2B5EF4-FFF2-40B4-BE49-F238E27FC236}">
                <a16:creationId xmlns:a16="http://schemas.microsoft.com/office/drawing/2014/main" id="{3EA7FC93-7ACE-43D3-9C26-59F976FA68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7721" y="1115577"/>
            <a:ext cx="2876550" cy="65722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D894CE05-3AD7-4C2B-A9E0-E6C2B55820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9700" y="1788253"/>
            <a:ext cx="6324600" cy="54292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8D84C1ED-435E-46E5-86E1-CDD056E214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6108" y="2300325"/>
            <a:ext cx="5819775" cy="55245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F684903-2DA5-4F7E-94AE-323A1B20C6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73945" y="2729452"/>
            <a:ext cx="2324100" cy="5524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ED69304-0173-4366-B886-2C56C675BE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35657" y="3965220"/>
            <a:ext cx="5400675" cy="571500"/>
          </a:xfrm>
          <a:prstGeom prst="rect">
            <a:avLst/>
          </a:prstGeom>
        </p:spPr>
      </p:pic>
      <p:sp>
        <p:nvSpPr>
          <p:cNvPr id="21" name="화살표: 아래쪽 20">
            <a:extLst>
              <a:ext uri="{FF2B5EF4-FFF2-40B4-BE49-F238E27FC236}">
                <a16:creationId xmlns:a16="http://schemas.microsoft.com/office/drawing/2014/main" id="{8DC79CB9-402F-4424-AC40-7C642F0E862B}"/>
              </a:ext>
            </a:extLst>
          </p:cNvPr>
          <p:cNvSpPr/>
          <p:nvPr/>
        </p:nvSpPr>
        <p:spPr>
          <a:xfrm>
            <a:off x="4373977" y="3353216"/>
            <a:ext cx="396045" cy="48300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F85504F9-119F-4207-AD70-65040807159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3576" y="4867612"/>
            <a:ext cx="6776847" cy="714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939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직사각형 1"/>
              <p:cNvSpPr/>
              <p:nvPr/>
            </p:nvSpPr>
            <p:spPr>
              <a:xfrm>
                <a:off x="251520" y="631997"/>
                <a:ext cx="8640960" cy="597666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>
                          <a:latin typeface="Cambria Math" panose="02040503050406030204" pitchFamily="18" charset="0"/>
                        </a:rPr>
                        <m:t>ㅇ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2" name="직사각형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631997"/>
                <a:ext cx="8640960" cy="5976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573727" y="271681"/>
            <a:ext cx="5886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역전파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03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인공신경망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679D82-B082-441C-B949-00D331F945C4}"/>
              </a:ext>
            </a:extLst>
          </p:cNvPr>
          <p:cNvSpPr txBox="1"/>
          <p:nvPr/>
        </p:nvSpPr>
        <p:spPr>
          <a:xfrm>
            <a:off x="1210738" y="1332481"/>
            <a:ext cx="68047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ko-KR" altLang="en-US"/>
            </a:br>
            <a:endParaRPr lang="en-US" altLang="ko-KR"/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352389-E2EC-4EE5-9F31-12E82DAB208A}"/>
                  </a:ext>
                </a:extLst>
              </p:cNvPr>
              <p:cNvSpPr txBox="1"/>
              <p:nvPr/>
            </p:nvSpPr>
            <p:spPr>
              <a:xfrm>
                <a:off x="724685" y="3863307"/>
                <a:ext cx="777686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altLang="ko-KR" b="1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 b="1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352389-E2EC-4EE5-9F31-12E82DAB2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685" y="3863307"/>
                <a:ext cx="7776864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D8A843BC-19CA-482C-8F2E-4661F43675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5656" y="1448731"/>
            <a:ext cx="6624137" cy="3960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7145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직사각형 1"/>
              <p:cNvSpPr/>
              <p:nvPr/>
            </p:nvSpPr>
            <p:spPr>
              <a:xfrm>
                <a:off x="251520" y="631997"/>
                <a:ext cx="8640960" cy="597666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>
                          <a:latin typeface="Cambria Math" panose="02040503050406030204" pitchFamily="18" charset="0"/>
                        </a:rPr>
                        <m:t>ㅇ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2" name="직사각형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631997"/>
                <a:ext cx="8640960" cy="5976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488769" y="271681"/>
            <a:ext cx="75854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모델 구현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04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인공신경망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679D82-B082-441C-B949-00D331F945C4}"/>
              </a:ext>
            </a:extLst>
          </p:cNvPr>
          <p:cNvSpPr txBox="1"/>
          <p:nvPr/>
        </p:nvSpPr>
        <p:spPr>
          <a:xfrm>
            <a:off x="1210738" y="1332481"/>
            <a:ext cx="68047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ko-KR" altLang="en-US"/>
            </a:br>
            <a:endParaRPr lang="en-US" altLang="ko-KR"/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352389-E2EC-4EE5-9F31-12E82DAB208A}"/>
                  </a:ext>
                </a:extLst>
              </p:cNvPr>
              <p:cNvSpPr txBox="1"/>
              <p:nvPr/>
            </p:nvSpPr>
            <p:spPr>
              <a:xfrm>
                <a:off x="724685" y="3863307"/>
                <a:ext cx="777686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altLang="ko-KR" b="1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 b="1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352389-E2EC-4EE5-9F31-12E82DAB2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685" y="3863307"/>
                <a:ext cx="7776864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287F8550-715B-498C-9CC5-C4FABE14CD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039" y="1097847"/>
            <a:ext cx="2667000" cy="90487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671CF43-6DBC-4246-B9D8-CF6367B4DC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039" y="2266824"/>
            <a:ext cx="5276850" cy="15430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35C1539-70C2-4798-9191-47DC5447E0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889" y="4235278"/>
            <a:ext cx="2428875" cy="19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8060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직사각형 1"/>
              <p:cNvSpPr/>
              <p:nvPr/>
            </p:nvSpPr>
            <p:spPr>
              <a:xfrm>
                <a:off x="251520" y="631997"/>
                <a:ext cx="8640960" cy="597666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>
                          <a:latin typeface="Cambria Math" panose="02040503050406030204" pitchFamily="18" charset="0"/>
                        </a:rPr>
                        <m:t>ㅇ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2" name="직사각형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631997"/>
                <a:ext cx="8640960" cy="5976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488769" y="271681"/>
            <a:ext cx="75854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모델 구현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04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인공신경망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679D82-B082-441C-B949-00D331F945C4}"/>
              </a:ext>
            </a:extLst>
          </p:cNvPr>
          <p:cNvSpPr txBox="1"/>
          <p:nvPr/>
        </p:nvSpPr>
        <p:spPr>
          <a:xfrm>
            <a:off x="1210738" y="1332481"/>
            <a:ext cx="68047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ko-KR" altLang="en-US"/>
            </a:br>
            <a:endParaRPr lang="en-US" altLang="ko-KR"/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352389-E2EC-4EE5-9F31-12E82DAB208A}"/>
                  </a:ext>
                </a:extLst>
              </p:cNvPr>
              <p:cNvSpPr txBox="1"/>
              <p:nvPr/>
            </p:nvSpPr>
            <p:spPr>
              <a:xfrm>
                <a:off x="724685" y="3863307"/>
                <a:ext cx="777686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altLang="ko-KR" b="1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 b="1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352389-E2EC-4EE5-9F31-12E82DAB2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685" y="3863307"/>
                <a:ext cx="7776864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34C83A6A-2C2F-4AA4-AD47-10254989C7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039" y="1530111"/>
            <a:ext cx="4848225" cy="88582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113F080-3531-4849-B41A-5C6F584CC7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039" y="3314050"/>
            <a:ext cx="3324225" cy="193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9202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직사각형 1"/>
              <p:cNvSpPr/>
              <p:nvPr/>
            </p:nvSpPr>
            <p:spPr>
              <a:xfrm>
                <a:off x="251520" y="631997"/>
                <a:ext cx="8640960" cy="597666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>
                          <a:latin typeface="Cambria Math" panose="02040503050406030204" pitchFamily="18" charset="0"/>
                        </a:rPr>
                        <m:t>ㅇ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2" name="직사각형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631997"/>
                <a:ext cx="8640960" cy="5976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488769" y="271681"/>
            <a:ext cx="75854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모델 구현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04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인공신경망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679D82-B082-441C-B949-00D331F945C4}"/>
              </a:ext>
            </a:extLst>
          </p:cNvPr>
          <p:cNvSpPr txBox="1"/>
          <p:nvPr/>
        </p:nvSpPr>
        <p:spPr>
          <a:xfrm>
            <a:off x="1210738" y="1332481"/>
            <a:ext cx="68047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ko-KR" altLang="en-US"/>
            </a:br>
            <a:endParaRPr lang="en-US" altLang="ko-KR"/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352389-E2EC-4EE5-9F31-12E82DAB208A}"/>
                  </a:ext>
                </a:extLst>
              </p:cNvPr>
              <p:cNvSpPr txBox="1"/>
              <p:nvPr/>
            </p:nvSpPr>
            <p:spPr>
              <a:xfrm>
                <a:off x="724685" y="3863307"/>
                <a:ext cx="777686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altLang="ko-KR" b="1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 b="1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352389-E2EC-4EE5-9F31-12E82DAB2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685" y="3863307"/>
                <a:ext cx="7776864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그림 13">
            <a:extLst>
              <a:ext uri="{FF2B5EF4-FFF2-40B4-BE49-F238E27FC236}">
                <a16:creationId xmlns:a16="http://schemas.microsoft.com/office/drawing/2014/main" id="{6A850F2B-E505-40DC-A318-8C87EA93AE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0433" y="1794146"/>
            <a:ext cx="5191125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1293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51520" y="3068960"/>
            <a:ext cx="8640960" cy="3528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/>
          <p:cNvSpPr/>
          <p:nvPr/>
        </p:nvSpPr>
        <p:spPr>
          <a:xfrm>
            <a:off x="2627784" y="1052736"/>
            <a:ext cx="3858956" cy="38589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99792" y="2564904"/>
            <a:ext cx="38164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b="1" dirty="0">
                <a:solidFill>
                  <a:schemeClr val="bg1"/>
                </a:solidFill>
              </a:rPr>
              <a:t>THANK</a:t>
            </a:r>
          </a:p>
          <a:p>
            <a:pPr algn="ctr"/>
            <a:r>
              <a:rPr lang="en-US" altLang="ko-KR" sz="5400" b="1" dirty="0">
                <a:solidFill>
                  <a:schemeClr val="bg1"/>
                </a:solidFill>
              </a:rPr>
              <a:t>YOU</a:t>
            </a:r>
            <a:endParaRPr lang="ko-KR" altLang="en-US" sz="5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1305</TotalTime>
  <Words>597</Words>
  <Application>Microsoft Office PowerPoint</Application>
  <PresentationFormat>화면 슬라이드 쇼(4:3)</PresentationFormat>
  <Paragraphs>190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HY헤드라인M</vt:lpstr>
      <vt:lpstr>맑은 고딕</vt:lpstr>
      <vt:lpstr>Arial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minhee park</dc:creator>
  <cp:lastModifiedBy>이유재</cp:lastModifiedBy>
  <cp:revision>44</cp:revision>
  <dcterms:created xsi:type="dcterms:W3CDTF">2016-11-03T20:47:04Z</dcterms:created>
  <dcterms:modified xsi:type="dcterms:W3CDTF">2020-05-09T11:16:51Z</dcterms:modified>
</cp:coreProperties>
</file>